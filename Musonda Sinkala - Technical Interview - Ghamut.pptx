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3" r:id="rId4"/>
    <p:sldId id="262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BB6C7-F35D-4F74-95FB-3DBAA63D36B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AA4F6-6B01-4864-8DC7-FFB316B69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2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AA4F6-6B01-4864-8DC7-FFB316B696F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45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AA4F6-6B01-4864-8DC7-FFB316B696F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55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AA4F6-6B01-4864-8DC7-FFB316B696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46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AA4F6-6B01-4864-8DC7-FFB316B696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55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D36A1-E798-68A2-BA9F-07889AA34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FED0C-9101-DDB3-6AF2-AE43B73F2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DDF33-29DD-BCAF-0CC5-4B19C6FC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B24F8-D4DE-4F02-A127-262A890CF5B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FE297-6775-3FAD-B4AC-306F5E30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3FA3-BB6A-D6FF-B75B-6195148D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A92A4-B764-4D02-AF47-A0155731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74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0293-1970-F667-C651-4E6AED804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2EC1A-7201-3EAE-13BF-447AA666B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A3010-9694-07E3-A41B-5CD1F444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B24F8-D4DE-4F02-A127-262A890CF5B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29C29-0245-9AA9-3C07-268EAD03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2F550-3630-F2B3-467B-6633F31A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A92A4-B764-4D02-AF47-A0155731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9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DCFF-4419-FB94-CEEA-4DB8F3BB6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882A4-82F2-A0E3-1F4D-074A04077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A19B0-404C-59F4-1300-E05B6AE6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B24F8-D4DE-4F02-A127-262A890CF5B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9A4DD-A0F1-B844-6321-72EE90172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D6A23-E740-FA7B-6A24-2055BFF2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A92A4-B764-4D02-AF47-A0155731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74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ABD10-72C1-D591-B534-AC403503C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FD4DB-8EDC-A663-D196-72DE1F4BE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480EF-12CF-475E-EDDA-36EDFB3D9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0B8C7-D0F7-7D78-997A-44D86802A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B24F8-D4DE-4F02-A127-262A890CF5B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CC916-001F-3EB6-F490-0DD9077EC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6315C-45AB-BA31-2095-D1DF455C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A92A4-B764-4D02-AF47-A0155731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5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F9A62-F5A5-558B-7A46-8DBB958E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A1D3D-54AB-6D91-628E-902DF04FB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0413D-3A85-1215-844A-0515AE287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D13ACA-A23C-46D0-7A4D-C4DEA59E4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07B72-10B9-FFC1-C9FF-FE34DCA0B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159C66-7DD9-9BBC-41DA-1600A7783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B24F8-D4DE-4F02-A127-262A890CF5B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001026-7F40-3166-3334-1D643053D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4D61C-722F-DE96-E42D-BE4F58E0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A92A4-B764-4D02-AF47-A0155731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37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F533-326F-FC1C-BD74-07F463D4E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A35F9D-31F3-4800-8A0A-BDB2B1B40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B24F8-D4DE-4F02-A127-262A890CF5B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DDA71-F68A-A21D-0788-25BF77DBF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ECDBD-2A1E-F5DF-0951-F024AF06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A92A4-B764-4D02-AF47-A0155731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00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20DC81-A672-9689-05F7-120AACF4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B24F8-D4DE-4F02-A127-262A890CF5B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44749F-4B24-6018-8136-65F3B9D0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25613-0024-C813-1E9D-2ACF9093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A92A4-B764-4D02-AF47-A0155731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34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5831-B306-8AA1-5794-DF06CA69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871D7-4B5B-24A5-ABC1-F6AFA1C5B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D411D-02B0-3497-7F8E-BAC3BD7E0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AF019-1723-8716-063D-A1340B2F6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B24F8-D4DE-4F02-A127-262A890CF5B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A53B1-D30F-2E5B-18D9-4E750A7D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0E2FB-3EFD-060A-2169-8E999E2D0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A92A4-B764-4D02-AF47-A0155731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2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CBA1-D234-AAE0-64A1-46232DF1C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C380C9-F79B-68A2-2D04-67A85C556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694D0-6B0C-6CA4-4880-2C7C37CB3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E67DA-B13E-B724-6C05-CB872552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B24F8-D4DE-4F02-A127-262A890CF5B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6D049-B95A-B5BF-0307-D9105EA91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D0696-DE2E-E94D-3D36-AFB8EDBBC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A92A4-B764-4D02-AF47-A0155731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4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E1ED-211C-C596-33A9-0F193C68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2ADB0-D4C3-35C0-ABDF-21592A60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92365-698C-F0C2-2C7C-2932A548A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B24F8-D4DE-4F02-A127-262A890CF5B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08AE4-A881-3FB6-09B7-8F13F769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B2E09-7EA3-FCD1-A414-4400B5FB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A92A4-B764-4D02-AF47-A0155731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4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AFEB9-DE07-3ED9-3C74-AE5EB1E95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3885A-F4B0-FA7C-E9EA-1E8B13A11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D0437-BBF7-A433-EE16-D68DC1435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B24F8-D4DE-4F02-A127-262A890CF5B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EBF4C-1641-A0BB-3B15-B0EBBB818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C7A8C-917D-5F9C-EA37-1CCA94428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A92A4-B764-4D02-AF47-A0155731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5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C76BE-0A25-A91D-74A9-753B82FD1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DA820-5781-6E9F-B79F-42F6A8C27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9F80C-51BC-F8E2-F7DB-43FD05D65A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B24F8-D4DE-4F02-A127-262A890CF5B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05830-D866-F618-5718-F5E6DD7DD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FC144-5FD3-7C0D-F4D7-6EE29CC95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A92A4-B764-4D02-AF47-A0155731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5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26C4-CE24-7B4D-7976-3059F761C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45" y="5702341"/>
            <a:ext cx="11153670" cy="804161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ZA" sz="3200" b="1" dirty="0"/>
              <a:t>Predicting Sector Price Movements Using Scientific Publication Trends </a:t>
            </a:r>
            <a:endParaRPr lang="en-US" sz="3200" b="1" dirty="0"/>
          </a:p>
        </p:txBody>
      </p:sp>
      <p:pic>
        <p:nvPicPr>
          <p:cNvPr id="2052" name="Picture 4" descr="How Does the Stock Market Work? - Wealthface">
            <a:extLst>
              <a:ext uri="{FF2B5EF4-FFF2-40B4-BE49-F238E27FC236}">
                <a16:creationId xmlns:a16="http://schemas.microsoft.com/office/drawing/2014/main" id="{525AE041-5511-1211-FB6A-745B3B68A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09" r="13235" b="-1"/>
          <a:stretch/>
        </p:blipFill>
        <p:spPr bwMode="auto">
          <a:xfrm>
            <a:off x="6095997" y="-3"/>
            <a:ext cx="6096000" cy="5279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ow to read a scientific paper [3 steps - 2025] - Paperpile">
            <a:extLst>
              <a:ext uri="{FF2B5EF4-FFF2-40B4-BE49-F238E27FC236}">
                <a16:creationId xmlns:a16="http://schemas.microsoft.com/office/drawing/2014/main" id="{2927B168-FE4F-B72F-1618-0A4B17EB5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9" b="11978"/>
          <a:stretch/>
        </p:blipFill>
        <p:spPr bwMode="auto">
          <a:xfrm>
            <a:off x="-2" y="0"/>
            <a:ext cx="6095999" cy="5279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Ghamut Corporation">
            <a:extLst>
              <a:ext uri="{FF2B5EF4-FFF2-40B4-BE49-F238E27FC236}">
                <a16:creationId xmlns:a16="http://schemas.microsoft.com/office/drawing/2014/main" id="{EFF1335B-C21B-FA8B-7681-B9186A3F9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510" y="6381904"/>
            <a:ext cx="1219880" cy="43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65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441D-724B-FC97-B9EB-1DBE498CD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23544"/>
          </a:xfr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9A0C0FF-B4BC-0761-8087-FEFFE4676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66" y="3194713"/>
            <a:ext cx="2497838" cy="3027284"/>
          </a:xfrm>
        </p:spPr>
        <p:txBody>
          <a:bodyPr anchor="t">
            <a:normAutofit/>
          </a:bodyPr>
          <a:lstStyle/>
          <a:p>
            <a:r>
              <a:rPr lang="en-ZA" sz="1200" b="1" dirty="0">
                <a:solidFill>
                  <a:schemeClr val="accent1">
                    <a:lumMod val="50000"/>
                  </a:schemeClr>
                </a:solidFill>
              </a:rPr>
              <a:t>Stock prices </a:t>
            </a:r>
            <a:r>
              <a:rPr lang="en-ZA" sz="1200" dirty="0"/>
              <a:t>are often driven by </a:t>
            </a:r>
            <a:r>
              <a:rPr lang="en-ZA" sz="1200" b="1" dirty="0">
                <a:solidFill>
                  <a:schemeClr val="accent1">
                    <a:lumMod val="50000"/>
                  </a:schemeClr>
                </a:solidFill>
              </a:rPr>
              <a:t>emerging innovation </a:t>
            </a:r>
            <a:r>
              <a:rPr lang="en-ZA" sz="1200" dirty="0"/>
              <a:t>and developments.</a:t>
            </a:r>
          </a:p>
          <a:p>
            <a:r>
              <a:rPr lang="en-ZA" sz="1200" b="1" dirty="0">
                <a:solidFill>
                  <a:schemeClr val="accent1">
                    <a:lumMod val="50000"/>
                  </a:schemeClr>
                </a:solidFill>
              </a:rPr>
              <a:t>Scientific publications </a:t>
            </a:r>
            <a:r>
              <a:rPr lang="en-ZA" sz="1200" dirty="0"/>
              <a:t>reflect real-time research activity and innovation focus.</a:t>
            </a:r>
          </a:p>
          <a:p>
            <a:r>
              <a:rPr lang="en-US" sz="1200" dirty="0"/>
              <a:t>Hence tracking these trends could offer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early signals of sector momentum</a:t>
            </a:r>
            <a:r>
              <a:rPr lang="en-US" sz="1200" dirty="0"/>
              <a:t>, ahead of financial indicators</a:t>
            </a:r>
          </a:p>
        </p:txBody>
      </p:sp>
      <p:pic>
        <p:nvPicPr>
          <p:cNvPr id="4" name="Picture 2" descr="Ghamut Corporation">
            <a:extLst>
              <a:ext uri="{FF2B5EF4-FFF2-40B4-BE49-F238E27FC236}">
                <a16:creationId xmlns:a16="http://schemas.microsoft.com/office/drawing/2014/main" id="{F190FEA0-41A7-43EE-D4D8-5D92B78C1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510" y="6381904"/>
            <a:ext cx="1219880" cy="43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44B917-F67F-2F56-DDA8-C68F5EE66641}"/>
              </a:ext>
            </a:extLst>
          </p:cNvPr>
          <p:cNvSpPr/>
          <p:nvPr/>
        </p:nvSpPr>
        <p:spPr>
          <a:xfrm>
            <a:off x="620268" y="2733152"/>
            <a:ext cx="2497836" cy="3488846"/>
          </a:xfrm>
          <a:prstGeom prst="roundRect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Diamond with solid fill">
            <a:extLst>
              <a:ext uri="{FF2B5EF4-FFF2-40B4-BE49-F238E27FC236}">
                <a16:creationId xmlns:a16="http://schemas.microsoft.com/office/drawing/2014/main" id="{31067AAC-06B3-C118-BCEE-AEB86B977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995156" y="1869250"/>
            <a:ext cx="655320" cy="65532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220993-57BA-7724-B1FF-4D21708FF4AE}"/>
              </a:ext>
            </a:extLst>
          </p:cNvPr>
          <p:cNvSpPr/>
          <p:nvPr/>
        </p:nvSpPr>
        <p:spPr>
          <a:xfrm>
            <a:off x="3404618" y="2733150"/>
            <a:ext cx="2497836" cy="3488847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0B5D02B-2D4B-F858-420B-A8F6160C481D}"/>
              </a:ext>
            </a:extLst>
          </p:cNvPr>
          <p:cNvSpPr/>
          <p:nvPr/>
        </p:nvSpPr>
        <p:spPr>
          <a:xfrm>
            <a:off x="6239258" y="2733150"/>
            <a:ext cx="2497836" cy="3496000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26C7C7C-9365-ACDD-C46F-5BCF126E1393}"/>
              </a:ext>
            </a:extLst>
          </p:cNvPr>
          <p:cNvSpPr/>
          <p:nvPr/>
        </p:nvSpPr>
        <p:spPr>
          <a:xfrm>
            <a:off x="9073898" y="2733150"/>
            <a:ext cx="2497836" cy="3488847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 descr="Bullseye with solid fill">
            <a:extLst>
              <a:ext uri="{FF2B5EF4-FFF2-40B4-BE49-F238E27FC236}">
                <a16:creationId xmlns:a16="http://schemas.microsoft.com/office/drawing/2014/main" id="{2988D7BB-FACA-6BFE-FA7E-1AFE9E3F9A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60516" y="1872647"/>
            <a:ext cx="655320" cy="655320"/>
          </a:xfrm>
          <a:prstGeom prst="rect">
            <a:avLst/>
          </a:prstGeom>
        </p:spPr>
      </p:pic>
      <p:pic>
        <p:nvPicPr>
          <p:cNvPr id="17" name="Graphic 16" descr="Badge Question Mark with solid fill">
            <a:extLst>
              <a:ext uri="{FF2B5EF4-FFF2-40B4-BE49-F238E27FC236}">
                <a16:creationId xmlns:a16="http://schemas.microsoft.com/office/drawing/2014/main" id="{4744B066-0A50-769A-A472-1736311515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25876" y="1859557"/>
            <a:ext cx="655320" cy="655320"/>
          </a:xfrm>
          <a:prstGeom prst="rect">
            <a:avLst/>
          </a:prstGeom>
        </p:spPr>
      </p:pic>
      <p:pic>
        <p:nvPicPr>
          <p:cNvPr id="19" name="Graphic 18" descr="Rolling hills with solid fill">
            <a:extLst>
              <a:ext uri="{FF2B5EF4-FFF2-40B4-BE49-F238E27FC236}">
                <a16:creationId xmlns:a16="http://schemas.microsoft.com/office/drawing/2014/main" id="{E07CC3B4-CBA8-AA14-E1CE-135B9BF873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541526" y="1874448"/>
            <a:ext cx="655320" cy="65532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6127E47-960A-AC39-2EBA-175D5107A20E}"/>
              </a:ext>
            </a:extLst>
          </p:cNvPr>
          <p:cNvSpPr txBox="1">
            <a:spLocks/>
          </p:cNvSpPr>
          <p:nvPr/>
        </p:nvSpPr>
        <p:spPr>
          <a:xfrm>
            <a:off x="1119187" y="2548079"/>
            <a:ext cx="1499997" cy="43881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ZA" sz="1800" b="1" dirty="0">
                <a:solidFill>
                  <a:schemeClr val="bg1"/>
                </a:solidFill>
              </a:rPr>
              <a:t>Background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EE283BF-F610-D6B2-218A-D8CFDBCE7069}"/>
              </a:ext>
            </a:extLst>
          </p:cNvPr>
          <p:cNvSpPr txBox="1">
            <a:spLocks/>
          </p:cNvSpPr>
          <p:nvPr/>
        </p:nvSpPr>
        <p:spPr>
          <a:xfrm>
            <a:off x="3404618" y="3188769"/>
            <a:ext cx="2491164" cy="3033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dirty="0"/>
              <a:t>Current investment strategies </a:t>
            </a:r>
            <a:r>
              <a:rPr lang="en-ZA" sz="1200" b="1" dirty="0">
                <a:solidFill>
                  <a:srgbClr val="7030A0"/>
                </a:solidFill>
              </a:rPr>
              <a:t>underutilize</a:t>
            </a:r>
            <a:r>
              <a:rPr lang="en-ZA" sz="1200" dirty="0"/>
              <a:t> open-access scientific data</a:t>
            </a:r>
            <a:r>
              <a:rPr lang="en-US" sz="1200" dirty="0"/>
              <a:t>.</a:t>
            </a:r>
          </a:p>
          <a:p>
            <a:r>
              <a:rPr lang="en-US" sz="1200" dirty="0"/>
              <a:t>Hence there’s a </a:t>
            </a:r>
            <a:r>
              <a:rPr lang="en-US" sz="1200" b="1" dirty="0">
                <a:solidFill>
                  <a:srgbClr val="7030A0"/>
                </a:solidFill>
              </a:rPr>
              <a:t>gap</a:t>
            </a:r>
            <a:r>
              <a:rPr lang="en-US" sz="1200" dirty="0"/>
              <a:t> in tools that connect real-time research trends to short term sector performance.</a:t>
            </a:r>
            <a:endParaRPr lang="en-ZA" sz="12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7A039C4-B43C-C4F5-4D76-846F6E752C74}"/>
              </a:ext>
            </a:extLst>
          </p:cNvPr>
          <p:cNvSpPr txBox="1">
            <a:spLocks/>
          </p:cNvSpPr>
          <p:nvPr/>
        </p:nvSpPr>
        <p:spPr>
          <a:xfrm>
            <a:off x="3661695" y="2530554"/>
            <a:ext cx="1972437" cy="43881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ZA" sz="1600" b="1" dirty="0">
                <a:solidFill>
                  <a:schemeClr val="bg1"/>
                </a:solidFill>
              </a:rPr>
              <a:t>Problem Statement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7ABC779-4A8D-E641-D4D0-80E207D14446}"/>
              </a:ext>
            </a:extLst>
          </p:cNvPr>
          <p:cNvSpPr txBox="1">
            <a:spLocks/>
          </p:cNvSpPr>
          <p:nvPr/>
        </p:nvSpPr>
        <p:spPr>
          <a:xfrm>
            <a:off x="6245930" y="3188769"/>
            <a:ext cx="2491164" cy="3033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/>
              <a:t>The goal is to:</a:t>
            </a:r>
          </a:p>
          <a:p>
            <a:r>
              <a:rPr lang="en-GB" sz="1200" dirty="0"/>
              <a:t>investigate whether </a:t>
            </a:r>
            <a:r>
              <a:rPr lang="en-GB" sz="1200" b="1" dirty="0">
                <a:solidFill>
                  <a:schemeClr val="accent2">
                    <a:lumMod val="50000"/>
                  </a:schemeClr>
                </a:solidFill>
              </a:rPr>
              <a:t>fluctuations in publication </a:t>
            </a:r>
            <a:r>
              <a:rPr lang="en-GB" sz="1200" dirty="0"/>
              <a:t>and citation activity in key sectors </a:t>
            </a:r>
            <a:r>
              <a:rPr lang="en-GB" sz="1200" b="1" dirty="0">
                <a:solidFill>
                  <a:schemeClr val="accent2">
                    <a:lumMod val="50000"/>
                  </a:schemeClr>
                </a:solidFill>
              </a:rPr>
              <a:t>can predict near-term stock price changes</a:t>
            </a:r>
            <a:r>
              <a:rPr lang="en-GB" sz="1200" dirty="0"/>
              <a:t>.</a:t>
            </a:r>
          </a:p>
          <a:p>
            <a:r>
              <a:rPr lang="en-GB" sz="1200" dirty="0"/>
              <a:t>to deploy an </a:t>
            </a:r>
            <a:r>
              <a:rPr lang="en-GB" sz="1200" b="1" dirty="0">
                <a:solidFill>
                  <a:schemeClr val="accent2">
                    <a:lumMod val="50000"/>
                  </a:schemeClr>
                </a:solidFill>
              </a:rPr>
              <a:t>interactive web application </a:t>
            </a:r>
            <a:r>
              <a:rPr lang="en-GB" sz="1200" dirty="0"/>
              <a:t>that helps investors connect scientific research trends with informed investment decisions.</a:t>
            </a:r>
            <a:endParaRPr lang="en-US" sz="120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25E3722-E8B6-0D41-DEE5-4CC483CFA296}"/>
              </a:ext>
            </a:extLst>
          </p:cNvPr>
          <p:cNvSpPr txBox="1">
            <a:spLocks/>
          </p:cNvSpPr>
          <p:nvPr/>
        </p:nvSpPr>
        <p:spPr>
          <a:xfrm>
            <a:off x="6738177" y="2548079"/>
            <a:ext cx="1499997" cy="4388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ZA" sz="1800" b="1" dirty="0">
                <a:solidFill>
                  <a:schemeClr val="bg1"/>
                </a:solidFill>
              </a:rPr>
              <a:t>Goal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E8C10B6-FA76-2546-BCE9-AFA4A71E1B47}"/>
              </a:ext>
            </a:extLst>
          </p:cNvPr>
          <p:cNvSpPr txBox="1">
            <a:spLocks/>
          </p:cNvSpPr>
          <p:nvPr/>
        </p:nvSpPr>
        <p:spPr>
          <a:xfrm>
            <a:off x="9073898" y="3188769"/>
            <a:ext cx="2491163" cy="3033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Enables 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early detection</a:t>
            </a:r>
            <a:r>
              <a:rPr lang="en-GB" sz="1200" dirty="0"/>
              <a:t> of rising sectors for more informed investment decisions.</a:t>
            </a:r>
          </a:p>
          <a:p>
            <a:r>
              <a:rPr lang="en-GB" sz="1200" dirty="0"/>
              <a:t>Does so by tapping into public scientific data — a rich, underexplored signal for market analysis.</a:t>
            </a:r>
            <a:endParaRPr lang="en-US" sz="1200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A108E65-0F32-A9C8-F90B-42B9550685A5}"/>
              </a:ext>
            </a:extLst>
          </p:cNvPr>
          <p:cNvSpPr txBox="1">
            <a:spLocks/>
          </p:cNvSpPr>
          <p:nvPr/>
        </p:nvSpPr>
        <p:spPr>
          <a:xfrm>
            <a:off x="9572817" y="2529759"/>
            <a:ext cx="1499997" cy="43881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ZA" sz="1800" b="1" dirty="0">
                <a:solidFill>
                  <a:schemeClr val="bg1"/>
                </a:solidFill>
              </a:rPr>
              <a:t>Why?</a:t>
            </a:r>
            <a:endParaRPr lang="en-U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76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8" grpId="0" animBg="1"/>
      <p:bldP spid="10" grpId="0" animBg="1"/>
      <p:bldP spid="13" grpId="0" animBg="1"/>
      <p:bldP spid="11" grpId="0" animBg="1"/>
      <p:bldP spid="21" grpId="0" animBg="1"/>
      <p:bldP spid="22" grpId="0"/>
      <p:bldP spid="23" grpId="0" animBg="1"/>
      <p:bldP spid="24" grpId="0"/>
      <p:bldP spid="25" grpId="0" animBg="1"/>
      <p:bldP spid="27" grpId="0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B0D8B0-99A8-FC18-AC05-7FC041DA8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B999C177-6ED2-3A2F-757E-7D26441E9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1949035"/>
            <a:ext cx="11327549" cy="3115075"/>
          </a:xfrm>
          <a:prstGeom prst="rect">
            <a:avLst/>
          </a:prstGeom>
        </p:spPr>
      </p:pic>
      <p:pic>
        <p:nvPicPr>
          <p:cNvPr id="4" name="Picture 2" descr="Ghamut Corporation">
            <a:extLst>
              <a:ext uri="{FF2B5EF4-FFF2-40B4-BE49-F238E27FC236}">
                <a16:creationId xmlns:a16="http://schemas.microsoft.com/office/drawing/2014/main" id="{3EDFE48E-9696-F097-7291-BB48AD773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510" y="6381904"/>
            <a:ext cx="1219880" cy="43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7BD6074-A245-04E3-EAB2-66DEE01C5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23544"/>
          </a:xfrm>
          <a:solidFill>
            <a:schemeClr val="tx2">
              <a:lumMod val="75000"/>
              <a:lumOff val="2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467565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DA9AA-5F44-F68E-DBB9-9C6D91CC6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AB8863A0-8DBE-73CD-4062-3A926E159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64" y="3950741"/>
            <a:ext cx="3128611" cy="2066727"/>
          </a:xfrm>
        </p:spPr>
        <p:txBody>
          <a:bodyPr anchor="t">
            <a:normAutofit/>
          </a:bodyPr>
          <a:lstStyle/>
          <a:p>
            <a:r>
              <a:rPr lang="en-ZA" sz="1400" dirty="0"/>
              <a:t>Source of scholarly publication metadata.</a:t>
            </a:r>
          </a:p>
          <a:p>
            <a:r>
              <a:rPr lang="en-ZA" sz="1400" dirty="0"/>
              <a:t>Data includes </a:t>
            </a:r>
            <a:r>
              <a:rPr lang="en-ZA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publication date</a:t>
            </a:r>
            <a:r>
              <a:rPr lang="en-ZA" sz="1400" dirty="0"/>
              <a:t>, </a:t>
            </a:r>
            <a:r>
              <a:rPr lang="en-ZA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citation count</a:t>
            </a:r>
            <a:r>
              <a:rPr lang="en-ZA" sz="1400" dirty="0"/>
              <a:t>, </a:t>
            </a:r>
            <a:r>
              <a:rPr lang="en-ZA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publication type </a:t>
            </a:r>
            <a:r>
              <a:rPr lang="en-ZA" sz="1400" dirty="0"/>
              <a:t>(journal etc), </a:t>
            </a:r>
            <a:r>
              <a:rPr lang="en-ZA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sector</a:t>
            </a:r>
            <a:r>
              <a:rPr lang="en-ZA" sz="1400" b="1" dirty="0"/>
              <a:t> </a:t>
            </a:r>
            <a:r>
              <a:rPr lang="en-ZA" sz="1400" dirty="0"/>
              <a:t>(through concept ID), </a:t>
            </a:r>
            <a:r>
              <a:rPr lang="en-ZA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open access status</a:t>
            </a:r>
            <a:r>
              <a:rPr lang="en-ZA" sz="1400" dirty="0"/>
              <a:t>.</a:t>
            </a:r>
            <a:endParaRPr lang="en-US" sz="1400" dirty="0"/>
          </a:p>
        </p:txBody>
      </p:sp>
      <p:pic>
        <p:nvPicPr>
          <p:cNvPr id="4" name="Picture 2" descr="Ghamut Corporation">
            <a:extLst>
              <a:ext uri="{FF2B5EF4-FFF2-40B4-BE49-F238E27FC236}">
                <a16:creationId xmlns:a16="http://schemas.microsoft.com/office/drawing/2014/main" id="{B9F8FD00-77B0-2FAC-C2FD-A4AD9829D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510" y="6381904"/>
            <a:ext cx="1219880" cy="43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5B5E2F2-78D1-5380-2897-6C4C844C9525}"/>
              </a:ext>
            </a:extLst>
          </p:cNvPr>
          <p:cNvSpPr/>
          <p:nvPr/>
        </p:nvSpPr>
        <p:spPr>
          <a:xfrm>
            <a:off x="620268" y="2590022"/>
            <a:ext cx="3128610" cy="3782542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Graphic 36" descr="Newspaper">
            <a:extLst>
              <a:ext uri="{FF2B5EF4-FFF2-40B4-BE49-F238E27FC236}">
                <a16:creationId xmlns:a16="http://schemas.microsoft.com/office/drawing/2014/main" id="{E3217E19-FF7A-34E7-12FD-5BB12EA766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86766" y="1665343"/>
            <a:ext cx="655320" cy="655320"/>
          </a:xfrm>
          <a:prstGeom prst="rect">
            <a:avLst/>
          </a:prstGeom>
        </p:spPr>
      </p:pic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DC91350-1BFE-78F0-B465-D41987BE91B1}"/>
              </a:ext>
            </a:extLst>
          </p:cNvPr>
          <p:cNvSpPr txBox="1">
            <a:spLocks/>
          </p:cNvSpPr>
          <p:nvPr/>
        </p:nvSpPr>
        <p:spPr>
          <a:xfrm>
            <a:off x="1155693" y="2351659"/>
            <a:ext cx="2066544" cy="4716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Data Source 1</a:t>
            </a:r>
          </a:p>
        </p:txBody>
      </p:sp>
      <p:pic>
        <p:nvPicPr>
          <p:cNvPr id="40" name="Picture 2" descr="OpenAlex - Wikipedia">
            <a:extLst>
              <a:ext uri="{FF2B5EF4-FFF2-40B4-BE49-F238E27FC236}">
                <a16:creationId xmlns:a16="http://schemas.microsoft.com/office/drawing/2014/main" id="{BA57BB66-3651-1093-5F50-1F645E1FC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8" t="19849" r="12137" b="18853"/>
          <a:stretch/>
        </p:blipFill>
        <p:spPr bwMode="auto">
          <a:xfrm>
            <a:off x="929381" y="3065848"/>
            <a:ext cx="2497837" cy="675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69DEE17-C5A5-5B5E-5D29-441D81B88127}"/>
              </a:ext>
            </a:extLst>
          </p:cNvPr>
          <p:cNvSpPr/>
          <p:nvPr/>
        </p:nvSpPr>
        <p:spPr>
          <a:xfrm>
            <a:off x="4531694" y="2590022"/>
            <a:ext cx="3128611" cy="378254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2" name="Graphic 41" descr="Upward trend with solid fill">
            <a:extLst>
              <a:ext uri="{FF2B5EF4-FFF2-40B4-BE49-F238E27FC236}">
                <a16:creationId xmlns:a16="http://schemas.microsoft.com/office/drawing/2014/main" id="{97F1AD0C-8DB5-2F65-F910-F682B48772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68338" y="1663795"/>
            <a:ext cx="655320" cy="655320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EBA2BA64-8D2C-9D78-143C-FD8F9E0BA090}"/>
              </a:ext>
            </a:extLst>
          </p:cNvPr>
          <p:cNvSpPr txBox="1">
            <a:spLocks/>
          </p:cNvSpPr>
          <p:nvPr/>
        </p:nvSpPr>
        <p:spPr>
          <a:xfrm>
            <a:off x="5062724" y="2319115"/>
            <a:ext cx="2066544" cy="471684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Data Source 2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005864A-4C67-FEFE-6623-B6B052DBA64A}"/>
              </a:ext>
            </a:extLst>
          </p:cNvPr>
          <p:cNvSpPr/>
          <p:nvPr/>
        </p:nvSpPr>
        <p:spPr>
          <a:xfrm>
            <a:off x="8443122" y="2590021"/>
            <a:ext cx="3128611" cy="3782543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Thought with solid fill">
            <a:extLst>
              <a:ext uri="{FF2B5EF4-FFF2-40B4-BE49-F238E27FC236}">
                <a16:creationId xmlns:a16="http://schemas.microsoft.com/office/drawing/2014/main" id="{55B8BEBA-657B-61B4-1BD9-9024B0F221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679767" y="1658469"/>
            <a:ext cx="655320" cy="655320"/>
          </a:xfrm>
          <a:prstGeom prst="rect">
            <a:avLst/>
          </a:prstGeom>
        </p:spPr>
      </p:pic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5E07B942-C202-0998-1F2B-C960BC6A570C}"/>
              </a:ext>
            </a:extLst>
          </p:cNvPr>
          <p:cNvSpPr txBox="1">
            <a:spLocks/>
          </p:cNvSpPr>
          <p:nvPr/>
        </p:nvSpPr>
        <p:spPr>
          <a:xfrm>
            <a:off x="8443113" y="3074982"/>
            <a:ext cx="3128619" cy="308529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400" dirty="0"/>
              <a:t>Concept IDs  accurately represent sector-specific research topics.</a:t>
            </a:r>
          </a:p>
          <a:p>
            <a:r>
              <a:rPr lang="en-ZA" sz="1400" dirty="0"/>
              <a:t>Publication volumes and Citations are reasonable proxies for research activity and impact.</a:t>
            </a:r>
          </a:p>
          <a:p>
            <a:r>
              <a:rPr lang="en-ZA" sz="1400" dirty="0"/>
              <a:t>Data retrieved from </a:t>
            </a:r>
            <a:r>
              <a:rPr lang="en-ZA" sz="1400" dirty="0" err="1"/>
              <a:t>OpenAlex</a:t>
            </a:r>
            <a:r>
              <a:rPr lang="en-ZA" sz="1400" dirty="0"/>
              <a:t> is complete.</a:t>
            </a:r>
          </a:p>
          <a:p>
            <a:r>
              <a:rPr lang="en-ZA" sz="1400" dirty="0"/>
              <a:t>Publications can act as leading indicators of innovation, which subsequently affects stock movements.</a:t>
            </a:r>
          </a:p>
          <a:p>
            <a:r>
              <a:rPr lang="en-GB" sz="1400" dirty="0"/>
              <a:t>Sector ETFs reflect broad investor sentiment and stock price movement.</a:t>
            </a:r>
            <a:endParaRPr lang="en-ZA" sz="1400" dirty="0"/>
          </a:p>
        </p:txBody>
      </p:sp>
      <p:pic>
        <p:nvPicPr>
          <p:cNvPr id="47" name="Picture 4" descr="GitHub - ranaroussi/yfinance: Download market data from Yahoo! Finance's API">
            <a:extLst>
              <a:ext uri="{FF2B5EF4-FFF2-40B4-BE49-F238E27FC236}">
                <a16:creationId xmlns:a16="http://schemas.microsoft.com/office/drawing/2014/main" id="{C5474CAF-4BC0-D2EC-D5FF-EFE7E5E7A9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0" t="26750" r="16975" b="24688"/>
          <a:stretch/>
        </p:blipFill>
        <p:spPr bwMode="auto">
          <a:xfrm>
            <a:off x="4854959" y="2953356"/>
            <a:ext cx="2482081" cy="842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9F96B882-201A-BBC6-FBFD-C5DB20557737}"/>
              </a:ext>
            </a:extLst>
          </p:cNvPr>
          <p:cNvSpPr txBox="1">
            <a:spLocks/>
          </p:cNvSpPr>
          <p:nvPr/>
        </p:nvSpPr>
        <p:spPr>
          <a:xfrm>
            <a:off x="4531690" y="3950741"/>
            <a:ext cx="3128611" cy="26244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400" dirty="0"/>
              <a:t>Source of sector-level financial data through sector ETFs.</a:t>
            </a:r>
          </a:p>
          <a:p>
            <a:r>
              <a:rPr lang="en-ZA" sz="1400" dirty="0"/>
              <a:t>Data includes </a:t>
            </a:r>
            <a:r>
              <a:rPr lang="en-ZA" sz="1400" b="1" dirty="0">
                <a:solidFill>
                  <a:srgbClr val="C00000"/>
                </a:solidFill>
              </a:rPr>
              <a:t>date</a:t>
            </a:r>
            <a:r>
              <a:rPr lang="en-ZA" sz="1400" dirty="0"/>
              <a:t>, </a:t>
            </a:r>
            <a:r>
              <a:rPr lang="en-ZA" sz="1400" b="1" dirty="0">
                <a:solidFill>
                  <a:srgbClr val="C00000"/>
                </a:solidFill>
              </a:rPr>
              <a:t>open</a:t>
            </a:r>
            <a:r>
              <a:rPr lang="en-ZA" sz="1400" dirty="0"/>
              <a:t>,</a:t>
            </a:r>
            <a:r>
              <a:rPr lang="en-ZA" sz="1400" b="1" dirty="0"/>
              <a:t> </a:t>
            </a:r>
            <a:r>
              <a:rPr lang="en-ZA" sz="1400" b="1" dirty="0">
                <a:solidFill>
                  <a:srgbClr val="C00000"/>
                </a:solidFill>
              </a:rPr>
              <a:t>high</a:t>
            </a:r>
            <a:r>
              <a:rPr lang="en-ZA" sz="1400" dirty="0"/>
              <a:t>, </a:t>
            </a:r>
            <a:r>
              <a:rPr lang="en-ZA" sz="1400" b="1" dirty="0">
                <a:solidFill>
                  <a:srgbClr val="C00000"/>
                </a:solidFill>
              </a:rPr>
              <a:t>low</a:t>
            </a:r>
            <a:r>
              <a:rPr lang="en-ZA" sz="1400" b="1" dirty="0"/>
              <a:t> </a:t>
            </a:r>
            <a:r>
              <a:rPr lang="en-ZA" sz="1400" dirty="0"/>
              <a:t>and </a:t>
            </a:r>
            <a:r>
              <a:rPr lang="en-ZA" sz="1400" b="1" dirty="0">
                <a:solidFill>
                  <a:srgbClr val="C00000"/>
                </a:solidFill>
              </a:rPr>
              <a:t>close ETF prices</a:t>
            </a:r>
            <a:r>
              <a:rPr lang="en-ZA" sz="1400" dirty="0"/>
              <a:t>, </a:t>
            </a:r>
            <a:r>
              <a:rPr lang="en-ZA" sz="1400" b="1" dirty="0">
                <a:solidFill>
                  <a:srgbClr val="C00000"/>
                </a:solidFill>
              </a:rPr>
              <a:t>volume traded</a:t>
            </a:r>
            <a:r>
              <a:rPr lang="en-ZA" sz="1400" dirty="0"/>
              <a:t>.</a:t>
            </a:r>
          </a:p>
          <a:p>
            <a:pPr>
              <a:buClr>
                <a:schemeClr val="tx1"/>
              </a:buClr>
            </a:pPr>
            <a:r>
              <a:rPr lang="en-ZA" sz="1400" b="1" dirty="0">
                <a:solidFill>
                  <a:srgbClr val="C00000"/>
                </a:solidFill>
              </a:rPr>
              <a:t>Focus on closing ETF price</a:t>
            </a:r>
            <a:r>
              <a:rPr lang="en-ZA" sz="1400" dirty="0"/>
              <a:t>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It reflects the consensus market price after the full trading day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6DC9DF68-4B96-8858-E7E3-378D412BD63B}"/>
              </a:ext>
            </a:extLst>
          </p:cNvPr>
          <p:cNvSpPr txBox="1">
            <a:spLocks/>
          </p:cNvSpPr>
          <p:nvPr/>
        </p:nvSpPr>
        <p:spPr>
          <a:xfrm>
            <a:off x="8974414" y="2319115"/>
            <a:ext cx="2066544" cy="471684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Assumptions</a:t>
            </a: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D04412D9-6886-A9FC-A83E-60AE21E4B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23544"/>
          </a:xfr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Sources and Assumptions</a:t>
            </a:r>
          </a:p>
        </p:txBody>
      </p:sp>
    </p:spTree>
    <p:extLst>
      <p:ext uri="{BB962C8B-B14F-4D97-AF65-F5344CB8AC3E}">
        <p14:creationId xmlns:p14="http://schemas.microsoft.com/office/powerpoint/2010/main" val="41124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  <p:bldP spid="36" grpId="0" animBg="1"/>
      <p:bldP spid="39" grpId="0" animBg="1"/>
      <p:bldP spid="41" grpId="0" animBg="1"/>
      <p:bldP spid="43" grpId="0" animBg="1"/>
      <p:bldP spid="44" grpId="0" animBg="1"/>
      <p:bldP spid="46" grpId="0"/>
      <p:bldP spid="48" grpId="0"/>
      <p:bldP spid="4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64714-CA16-8A2B-3B38-35E2DBB6B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Ghamut Corporation">
            <a:extLst>
              <a:ext uri="{FF2B5EF4-FFF2-40B4-BE49-F238E27FC236}">
                <a16:creationId xmlns:a16="http://schemas.microsoft.com/office/drawing/2014/main" id="{9D3F0B4B-2927-64FF-698D-9A622EC11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510" y="6381904"/>
            <a:ext cx="1219880" cy="43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CAA335-F4BE-CB30-03E6-B0CF8D5E5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" y="1574310"/>
            <a:ext cx="6492242" cy="36863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AB5C02D-88DF-FF4F-0226-1E7C94662867}"/>
              </a:ext>
            </a:extLst>
          </p:cNvPr>
          <p:cNvSpPr/>
          <p:nvPr/>
        </p:nvSpPr>
        <p:spPr>
          <a:xfrm>
            <a:off x="3200399" y="2221992"/>
            <a:ext cx="91442" cy="2681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E84ED04-CC8D-55D8-D879-3EC909CCD18A}"/>
              </a:ext>
            </a:extLst>
          </p:cNvPr>
          <p:cNvCxnSpPr>
            <a:cxnSpLocks/>
          </p:cNvCxnSpPr>
          <p:nvPr/>
        </p:nvCxnSpPr>
        <p:spPr>
          <a:xfrm>
            <a:off x="6592824" y="1574309"/>
            <a:ext cx="0" cy="368635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2C7B753-8B9A-FC8B-171B-857186A2B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3427" y="1770150"/>
            <a:ext cx="4937968" cy="149635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314ECC6-3BB5-2478-08BA-B20D6C6EE57A}"/>
              </a:ext>
            </a:extLst>
          </p:cNvPr>
          <p:cNvCxnSpPr>
            <a:cxnSpLocks/>
          </p:cNvCxnSpPr>
          <p:nvPr/>
        </p:nvCxnSpPr>
        <p:spPr>
          <a:xfrm>
            <a:off x="6592824" y="3435222"/>
            <a:ext cx="5599174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F35199-09E7-63B5-0986-4608A035F398}"/>
              </a:ext>
            </a:extLst>
          </p:cNvPr>
          <p:cNvCxnSpPr>
            <a:cxnSpLocks/>
          </p:cNvCxnSpPr>
          <p:nvPr/>
        </p:nvCxnSpPr>
        <p:spPr>
          <a:xfrm>
            <a:off x="0" y="5305228"/>
            <a:ext cx="1219199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4809A17A-CD83-0641-2BD1-73BD14C1A7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3427" y="3599626"/>
            <a:ext cx="4937968" cy="155282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7D1CDE2-3212-3236-11E7-36DC9FB986D2}"/>
              </a:ext>
            </a:extLst>
          </p:cNvPr>
          <p:cNvSpPr/>
          <p:nvPr/>
        </p:nvSpPr>
        <p:spPr>
          <a:xfrm>
            <a:off x="82296" y="5349791"/>
            <a:ext cx="10378440" cy="13984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first two rows indicate the </a:t>
            </a:r>
            <a:r>
              <a:rPr lang="en-US" sz="1400" b="1" dirty="0">
                <a:solidFill>
                  <a:schemeClr val="tx1"/>
                </a:solidFill>
              </a:rPr>
              <a:t>beta coefficients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b="1" dirty="0">
                <a:solidFill>
                  <a:schemeClr val="tx1"/>
                </a:solidFill>
              </a:rPr>
              <a:t>p-values</a:t>
            </a:r>
            <a:r>
              <a:rPr lang="en-US" sz="1400" dirty="0">
                <a:solidFill>
                  <a:schemeClr val="tx1"/>
                </a:solidFill>
              </a:rPr>
              <a:t>, respectively of the regression model: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Publication + Lagged Publications + Citations + Lagged Citations ~ Day-to-Day Closing Price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adjusted R</a:t>
            </a:r>
            <a:r>
              <a:rPr lang="en-US" sz="1400" baseline="30000" dirty="0">
                <a:solidFill>
                  <a:schemeClr val="tx1"/>
                </a:solidFill>
              </a:rPr>
              <a:t>2</a:t>
            </a:r>
            <a:r>
              <a:rPr lang="en-US" sz="1400" dirty="0">
                <a:solidFill>
                  <a:schemeClr val="tx1"/>
                </a:solidFill>
              </a:rPr>
              <a:t> for this model is </a:t>
            </a:r>
            <a:r>
              <a:rPr lang="en-US" sz="1400" b="1" dirty="0">
                <a:solidFill>
                  <a:schemeClr val="tx1"/>
                </a:solidFill>
              </a:rPr>
              <a:t>31.44%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increase in the number of publications </a:t>
            </a:r>
            <a:r>
              <a:rPr lang="en-US" sz="1400" b="1" dirty="0">
                <a:solidFill>
                  <a:schemeClr val="tx1"/>
                </a:solidFill>
              </a:rPr>
              <a:t>3 days prior </a:t>
            </a:r>
            <a:r>
              <a:rPr lang="en-US" sz="1400" dirty="0">
                <a:solidFill>
                  <a:schemeClr val="tx1"/>
                </a:solidFill>
              </a:rPr>
              <a:t>results in a </a:t>
            </a:r>
            <a:r>
              <a:rPr lang="en-US" sz="1400" b="1" dirty="0">
                <a:solidFill>
                  <a:schemeClr val="tx1"/>
                </a:solidFill>
              </a:rPr>
              <a:t>decrease</a:t>
            </a:r>
            <a:r>
              <a:rPr lang="en-US" sz="1400" dirty="0">
                <a:solidFill>
                  <a:schemeClr val="tx1"/>
                </a:solidFill>
              </a:rPr>
              <a:t> in the </a:t>
            </a:r>
            <a:r>
              <a:rPr lang="en-US" sz="1400" b="1" dirty="0">
                <a:solidFill>
                  <a:schemeClr val="tx1"/>
                </a:solidFill>
              </a:rPr>
              <a:t>day-to-day</a:t>
            </a:r>
            <a:r>
              <a:rPr lang="en-US" sz="1400" dirty="0">
                <a:solidFill>
                  <a:schemeClr val="tx1"/>
                </a:solidFill>
              </a:rPr>
              <a:t> closing price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</a:rPr>
              <a:t>Most publication-related betas are negative, </a:t>
            </a:r>
            <a:r>
              <a:rPr lang="en-GB" sz="1400" dirty="0">
                <a:solidFill>
                  <a:schemeClr val="tx1"/>
                </a:solidFill>
              </a:rPr>
              <a:t>suggesting a</a:t>
            </a:r>
            <a:r>
              <a:rPr lang="en-GB" sz="1400" b="1" dirty="0">
                <a:solidFill>
                  <a:schemeClr val="tx1"/>
                </a:solidFill>
              </a:rPr>
              <a:t> potentially </a:t>
            </a:r>
            <a:r>
              <a:rPr lang="en-GB" sz="1400" b="1" dirty="0">
                <a:solidFill>
                  <a:srgbClr val="FF0000"/>
                </a:solidFill>
              </a:rPr>
              <a:t>bearish</a:t>
            </a:r>
            <a:r>
              <a:rPr lang="en-GB" sz="1400" b="1" dirty="0">
                <a:solidFill>
                  <a:schemeClr val="tx1"/>
                </a:solidFill>
              </a:rPr>
              <a:t> short-term relationship.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</a:rPr>
              <a:t>Citation (3-day lag)</a:t>
            </a:r>
            <a:r>
              <a:rPr lang="en-GB" sz="1400" dirty="0">
                <a:solidFill>
                  <a:schemeClr val="tx1"/>
                </a:solidFill>
              </a:rPr>
              <a:t> is </a:t>
            </a:r>
            <a:r>
              <a:rPr lang="en-GB" sz="1400" b="1" dirty="0">
                <a:solidFill>
                  <a:schemeClr val="tx1"/>
                </a:solidFill>
              </a:rPr>
              <a:t>strongly correlated</a:t>
            </a:r>
            <a:r>
              <a:rPr lang="en-GB" sz="1400" dirty="0">
                <a:solidFill>
                  <a:schemeClr val="tx1"/>
                </a:solidFill>
              </a:rPr>
              <a:t> with </a:t>
            </a:r>
            <a:r>
              <a:rPr lang="en-GB" sz="1400" b="1" dirty="0">
                <a:solidFill>
                  <a:schemeClr val="tx1"/>
                </a:solidFill>
              </a:rPr>
              <a:t>volatility</a:t>
            </a:r>
            <a:r>
              <a:rPr lang="en-GB" sz="1400" dirty="0">
                <a:solidFill>
                  <a:schemeClr val="tx1"/>
                </a:solidFill>
              </a:rPr>
              <a:t>, indicating it may signal upcoming short-term price swings.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82495789-A52E-E751-0E87-C9EEBB649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23544"/>
          </a:xfr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Insights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0BD82FE2-935A-CC09-858A-0B793D849069}"/>
              </a:ext>
            </a:extLst>
          </p:cNvPr>
          <p:cNvSpPr txBox="1">
            <a:spLocks/>
          </p:cNvSpPr>
          <p:nvPr/>
        </p:nvSpPr>
        <p:spPr>
          <a:xfrm>
            <a:off x="283467" y="968105"/>
            <a:ext cx="11649451" cy="5616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An increase in the number of publications </a:t>
            </a:r>
            <a:r>
              <a:rPr lang="en-US" sz="1800" b="1" dirty="0"/>
              <a:t>3 days prior </a:t>
            </a:r>
            <a:r>
              <a:rPr lang="en-US" sz="1800" dirty="0"/>
              <a:t>results in a </a:t>
            </a:r>
            <a:r>
              <a:rPr lang="en-US" sz="1800" b="1" dirty="0"/>
              <a:t>decrease</a:t>
            </a:r>
            <a:r>
              <a:rPr lang="en-US" sz="1800" dirty="0"/>
              <a:t> in the </a:t>
            </a:r>
            <a:r>
              <a:rPr lang="en-US" sz="1800" b="1" dirty="0"/>
              <a:t>day-to-day</a:t>
            </a:r>
            <a:r>
              <a:rPr lang="en-US" sz="1800" dirty="0"/>
              <a:t> closing price changes.</a:t>
            </a:r>
          </a:p>
        </p:txBody>
      </p:sp>
    </p:spTree>
    <p:extLst>
      <p:ext uri="{BB962C8B-B14F-4D97-AF65-F5344CB8AC3E}">
        <p14:creationId xmlns:p14="http://schemas.microsoft.com/office/powerpoint/2010/main" val="54279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978F1D-79E5-1AB6-80F6-AF1E54D2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Ghamut Corporation">
            <a:extLst>
              <a:ext uri="{FF2B5EF4-FFF2-40B4-BE49-F238E27FC236}">
                <a16:creationId xmlns:a16="http://schemas.microsoft.com/office/drawing/2014/main" id="{22D8BB3C-99A1-2689-BBF6-301D6A79F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510" y="6381904"/>
            <a:ext cx="1219880" cy="43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266660-B32E-E78A-94CF-DAA8BF7DDFF0}"/>
              </a:ext>
            </a:extLst>
          </p:cNvPr>
          <p:cNvSpPr/>
          <p:nvPr/>
        </p:nvSpPr>
        <p:spPr>
          <a:xfrm>
            <a:off x="2222754" y="2909533"/>
            <a:ext cx="3241304" cy="347237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4A6860-63F4-89A0-DA60-C70CB8518328}"/>
              </a:ext>
            </a:extLst>
          </p:cNvPr>
          <p:cNvSpPr/>
          <p:nvPr/>
        </p:nvSpPr>
        <p:spPr>
          <a:xfrm>
            <a:off x="6727918" y="2909533"/>
            <a:ext cx="3241304" cy="3472371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Aspiration with solid fill">
            <a:extLst>
              <a:ext uri="{FF2B5EF4-FFF2-40B4-BE49-F238E27FC236}">
                <a16:creationId xmlns:a16="http://schemas.microsoft.com/office/drawing/2014/main" id="{1FAE085F-2A1B-4A7F-9838-AD0CAFEB91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23389" y="1727247"/>
            <a:ext cx="850373" cy="850373"/>
          </a:xfrm>
          <a:prstGeom prst="rect">
            <a:avLst/>
          </a:prstGeom>
        </p:spPr>
      </p:pic>
      <p:pic>
        <p:nvPicPr>
          <p:cNvPr id="6" name="Graphic 5" descr="Warning with solid fill">
            <a:extLst>
              <a:ext uri="{FF2B5EF4-FFF2-40B4-BE49-F238E27FC236}">
                <a16:creationId xmlns:a16="http://schemas.microsoft.com/office/drawing/2014/main" id="{79835EDF-B602-5E7D-81DB-73EC6102F0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418214" y="1710241"/>
            <a:ext cx="850373" cy="85037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C0795E6-E8D6-D88F-77C8-2185DAB819B0}"/>
              </a:ext>
            </a:extLst>
          </p:cNvPr>
          <p:cNvSpPr txBox="1">
            <a:spLocks/>
          </p:cNvSpPr>
          <p:nvPr/>
        </p:nvSpPr>
        <p:spPr>
          <a:xfrm>
            <a:off x="2563643" y="2670342"/>
            <a:ext cx="2559523" cy="49135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Limitations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1604193-283A-1BE3-6277-41D2C52D1FB0}"/>
              </a:ext>
            </a:extLst>
          </p:cNvPr>
          <p:cNvSpPr txBox="1">
            <a:spLocks/>
          </p:cNvSpPr>
          <p:nvPr/>
        </p:nvSpPr>
        <p:spPr>
          <a:xfrm>
            <a:off x="6727918" y="3313597"/>
            <a:ext cx="3241302" cy="2607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Incorporate batch processing for Publication metadata retrieval</a:t>
            </a:r>
          </a:p>
          <a:p>
            <a:r>
              <a:rPr lang="en-US" sz="1400" dirty="0" err="1"/>
              <a:t>Intergrate</a:t>
            </a:r>
            <a:r>
              <a:rPr lang="en-US" sz="1400" dirty="0"/>
              <a:t> more data sources.</a:t>
            </a:r>
          </a:p>
          <a:p>
            <a:r>
              <a:rPr lang="en-US" sz="1400" dirty="0"/>
              <a:t>Leverage LLMs (sentiment analysis and classifiers) to classify research as positive or negative in aims to determine the impact of publication sentiment on </a:t>
            </a:r>
            <a:r>
              <a:rPr lang="en-US" sz="1400" dirty="0" err="1"/>
              <a:t>stockprive</a:t>
            </a:r>
            <a:r>
              <a:rPr lang="en-US" sz="1400" dirty="0"/>
              <a:t> movements</a:t>
            </a:r>
          </a:p>
          <a:p>
            <a:r>
              <a:rPr lang="en-US" sz="1400" dirty="0"/>
              <a:t>Investigate March spike in publications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8E02F7-2E55-9ACE-B84E-C45D8FDA8300}"/>
              </a:ext>
            </a:extLst>
          </p:cNvPr>
          <p:cNvSpPr txBox="1">
            <a:spLocks/>
          </p:cNvSpPr>
          <p:nvPr/>
        </p:nvSpPr>
        <p:spPr>
          <a:xfrm>
            <a:off x="7068810" y="2658668"/>
            <a:ext cx="2559523" cy="514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Future Improvements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EFE8FDE-370C-41DB-5945-B039F1A9F3E0}"/>
              </a:ext>
            </a:extLst>
          </p:cNvPr>
          <p:cNvSpPr txBox="1">
            <a:spLocks/>
          </p:cNvSpPr>
          <p:nvPr/>
        </p:nvSpPr>
        <p:spPr>
          <a:xfrm>
            <a:off x="2222751" y="3313596"/>
            <a:ext cx="3241303" cy="21426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OpenAlex rate limits and data granularity slow down analysis.</a:t>
            </a:r>
          </a:p>
          <a:p>
            <a:endParaRPr lang="en-US" sz="1400" dirty="0"/>
          </a:p>
          <a:p>
            <a:r>
              <a:rPr lang="en-US" sz="1400" dirty="0"/>
              <a:t>Research activity may correlate with ETF movements but not cause them. Other features may be needed to determine causes of stock price movements.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7B43C03-DD63-6C98-44D4-B60D1B166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23544"/>
          </a:xfrm>
          <a:solidFill>
            <a:srgbClr val="D6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 Steps and Limitations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0743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5" grpId="0"/>
      <p:bldP spid="9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</TotalTime>
  <Words>496</Words>
  <Application>Microsoft Office PowerPoint</Application>
  <PresentationFormat>Widescreen</PresentationFormat>
  <Paragraphs>53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Predicting Sector Price Movements Using Scientific Publication Trends </vt:lpstr>
      <vt:lpstr>Problem Statement</vt:lpstr>
      <vt:lpstr>System Architecture</vt:lpstr>
      <vt:lpstr>Data Sources and Assumptions</vt:lpstr>
      <vt:lpstr>Insights</vt:lpstr>
      <vt:lpstr>Next Steps and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Sector Price Movements Using Scientific Publication Trends</dc:title>
  <dc:creator>Musonda Sinkala</dc:creator>
  <cp:lastModifiedBy>Musonda Sinkala</cp:lastModifiedBy>
  <cp:revision>57</cp:revision>
  <dcterms:created xsi:type="dcterms:W3CDTF">2025-05-02T01:29:53Z</dcterms:created>
  <dcterms:modified xsi:type="dcterms:W3CDTF">2025-05-02T17:07:21Z</dcterms:modified>
</cp:coreProperties>
</file>